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207d3c91a44819" /><Relationship Type="http://schemas.openxmlformats.org/officeDocument/2006/relationships/extended-properties" Target="/docProps/app.xml" Id="R3b1dc8726c8f4644" /><Relationship Type="http://schemas.openxmlformats.org/officeDocument/2006/relationships/officeDocument" Target="/ppt/presentation.xml" Id="Refd031a5414b4c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6c62f9a2274f85"/>
  </p:sldMasterIdLst>
  <p:notesMasterIdLst>
    <p:notesMasterId xmlns:r="http://schemas.openxmlformats.org/officeDocument/2006/relationships" r:id="Refc271d7b32943bf"/>
  </p:notesMasterIdLst>
  <p:sldIdLst>
    <p:sldId xmlns:r="http://schemas.openxmlformats.org/officeDocument/2006/relationships" id="256" r:id="Ra7b70be92c214a61"/>
    <p:sldId xmlns:r="http://schemas.openxmlformats.org/officeDocument/2006/relationships" id="257" r:id="Rcfdf48e0eee34b74"/>
    <p:sldId xmlns:r="http://schemas.openxmlformats.org/officeDocument/2006/relationships" id="258" r:id="Ra25e4fdd16104fb2"/>
    <p:sldId xmlns:r="http://schemas.openxmlformats.org/officeDocument/2006/relationships" id="259" r:id="Rc2bac0049e14418d"/>
    <p:sldId xmlns:r="http://schemas.openxmlformats.org/officeDocument/2006/relationships" id="260" r:id="Rba79d61e9bbc4442"/>
    <p:sldId xmlns:r="http://schemas.openxmlformats.org/officeDocument/2006/relationships" id="261" r:id="R1fe046585efc4162"/>
    <p:sldId xmlns:r="http://schemas.openxmlformats.org/officeDocument/2006/relationships" id="262" r:id="Rcf533eeadf964d69"/>
    <p:sldId xmlns:r="http://schemas.openxmlformats.org/officeDocument/2006/relationships" id="263" r:id="R1c41b2fbff6c42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854d58f2474fb0" /><Relationship Type="http://schemas.openxmlformats.org/officeDocument/2006/relationships/slideMaster" Target="/ppt/slideMasters/slideMaster1.xml" Id="Rbf6c62f9a2274f85" /><Relationship Type="http://schemas.openxmlformats.org/officeDocument/2006/relationships/notesMaster" Target="/ppt/notesMasters/notesMaster1.xml" Id="Refc271d7b32943bf" /><Relationship Type="http://schemas.openxmlformats.org/officeDocument/2006/relationships/presProps" Target="/ppt/presProps.xml" Id="R3aab8343c33c4072" /><Relationship Type="http://schemas.openxmlformats.org/officeDocument/2006/relationships/tableStyles" Target="/ppt/tableStyles.xml" Id="R0cf1b0dfd4454d7d" /><Relationship Type="http://schemas.openxmlformats.org/officeDocument/2006/relationships/slide" Target="/ppt/slides/slide1.xml" Id="Ra7b70be92c214a61" /><Relationship Type="http://schemas.openxmlformats.org/officeDocument/2006/relationships/slide" Target="/ppt/slides/slide2.xml" Id="Rcfdf48e0eee34b74" /><Relationship Type="http://schemas.openxmlformats.org/officeDocument/2006/relationships/slide" Target="/ppt/slides/slide3.xml" Id="Ra25e4fdd16104fb2" /><Relationship Type="http://schemas.openxmlformats.org/officeDocument/2006/relationships/slide" Target="/ppt/slides/slide4.xml" Id="Rc2bac0049e14418d" /><Relationship Type="http://schemas.openxmlformats.org/officeDocument/2006/relationships/slide" Target="/ppt/slides/slide5.xml" Id="Rba79d61e9bbc4442" /><Relationship Type="http://schemas.openxmlformats.org/officeDocument/2006/relationships/slide" Target="/ppt/slides/slide6.xml" Id="R1fe046585efc4162" /><Relationship Type="http://schemas.openxmlformats.org/officeDocument/2006/relationships/slide" Target="/ppt/slides/slide7.xml" Id="Rcf533eeadf964d69" /><Relationship Type="http://schemas.openxmlformats.org/officeDocument/2006/relationships/slide" Target="/ppt/slides/slide8.xml" Id="R1c41b2fbff6c42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a267356f6b46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6179182f9c4dea" /><Relationship Type="http://schemas.openxmlformats.org/officeDocument/2006/relationships/notesMaster" Target="/ppt/notesMasters/notesMaster1.xml" Id="Ra88291947b904c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e0017eb0d54e17" /><Relationship Type="http://schemas.openxmlformats.org/officeDocument/2006/relationships/notesMaster" Target="/ppt/notesMasters/notesMaster1.xml" Id="Reaf56beef53543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ed1a9913cd45dd" /><Relationship Type="http://schemas.openxmlformats.org/officeDocument/2006/relationships/notesMaster" Target="/ppt/notesMasters/notesMaster1.xml" Id="R2a869e01969e4e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ed4211337d4bef" /><Relationship Type="http://schemas.openxmlformats.org/officeDocument/2006/relationships/notesMaster" Target="/ppt/notesMasters/notesMaster1.xml" Id="R54ca34c7ea2446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00458b53714d79" /><Relationship Type="http://schemas.openxmlformats.org/officeDocument/2006/relationships/notesMaster" Target="/ppt/notesMasters/notesMaster1.xml" Id="Re69dcbd338b4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56a7c5f221448d" /><Relationship Type="http://schemas.openxmlformats.org/officeDocument/2006/relationships/notesMaster" Target="/ppt/notesMasters/notesMaster1.xml" Id="R693f6e2f2b294d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605f58c97c4c50" /><Relationship Type="http://schemas.openxmlformats.org/officeDocument/2006/relationships/notesMaster" Target="/ppt/notesMasters/notesMaster1.xml" Id="Rf43f821564814b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06600563dc45f5" /><Relationship Type="http://schemas.openxmlformats.org/officeDocument/2006/relationships/notesMaster" Target="/ppt/notesMasters/notesMaster1.xml" Id="Rd11d057c8da646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/home/randomwish/dev/vllm-exploration/experiments/sglang_energy/PREFIX-CACHE-EXPERIMENT.md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/home/randomwish/dev/vllm-exploration/sglang-energy-results/qwen35-sglang-energy-h100-pilot-20260825T140112Z/summary.csv</a:t>
            </a:r>
          </a:p>
          <a:p xmlns:a="http://schemas.openxmlformats.org/drawingml/2006/main">
            <a:r>
              <a:t>- /home/randomwish/dev/vllm-exploration/experiments/sglang_energy/PREFIX-CACHE-EXPERIMENT.md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/home/randomwish/dev/vllm-exploration/experiments/sglang_energy/PREFIX-CACHE-EXPERIMENT.md</a:t>
            </a:r>
          </a:p>
          <a:p xmlns:a="http://schemas.openxmlformats.org/drawingml/2006/main">
            <a:r>
              <a:t>- /home/randomwish/dev/vllm-exploration/sglang-energy-results/qwen35-sglang-energy-h100-pilot-20260825T140112Z/analysis/telemetry-run-aggregates.csv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/home/randomwish/dev/vllm-exploration/sglang-energy-results/qwen35-sglang-energy-h100-pilot-20260825T140112Z/analysis/telemetry-run-aggregates.csv</a:t>
            </a:r>
          </a:p>
          <a:p xmlns:a="http://schemas.openxmlformats.org/drawingml/2006/main">
            <a:r>
              <a:t>- /home/randomwish/dev/vllm-exploration/experiments/sglang_energy/PREFIX-CACHE-EXPERIMENT.md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/home/randomwish/dev/vllm-exploration/experiments/sglang_energy/PREFIX-CACHE-EXPERIMENT.md</a:t>
            </a:r>
          </a:p>
          <a:p xmlns:a="http://schemas.openxmlformats.org/drawingml/2006/main">
            <a:r>
              <a:t>- /home/randomwish/dev/vllm-exploration/sglang-energy-results/qwen35-sglang-energy-h100-pilot-20260825T140112Z/analysis/telemetry-availability.csv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/home/randomwish/dev/vllm-exploration/sglang-energy-results/qwen35-sglang-energy-h100-pilot-20260825T140112Z/analysis/selected-relationships.csv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/home/randomwish/dev/vllm-exploration/experiments/sglang_energy/prefix_cache_campaign.json</a:t>
            </a:r>
          </a:p>
          <a:p xmlns:a="http://schemas.openxmlformats.org/drawingml/2006/main">
            <a:r>
              <a:t>- /home/randomwish/dev/vllm-exploration/experiments/sglang_energy/PREFIX-CACHE-EXPERIMENT.md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/home/randomwish/dev/vllm-exploration/experiments/sglang_energy/prefix_cache_campaign.json</a:t>
            </a:r>
          </a:p>
          <a:p xmlns:a="http://schemas.openxmlformats.org/drawingml/2006/main">
            <a:r>
              <a:t>- /home/randomwish/dev/vllm-exploration/experiments/sglang_energy/PREFIX-CACHE-EXPERIMENT.md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1de94b087345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c6fd3a519241c7" /><Relationship Type="http://schemas.openxmlformats.org/officeDocument/2006/relationships/slideLayout" Target="/ppt/slideLayouts/slideLayout1.xml" Id="R19e393b3f7914e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e393b3f7914e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80b50c5a543db" /><Relationship Type="http://schemas.openxmlformats.org/officeDocument/2006/relationships/notesSlide" Target="/ppt/notesSlides/notesSlide1.xml" Id="R4dd961ad3b3d42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d7bf0f9ba41fd" /><Relationship Type="http://schemas.openxmlformats.org/officeDocument/2006/relationships/chart" Target="/ppt/slides/charts/chart1.xml" Id="R894c947f696446d9" /><Relationship Type="http://schemas.openxmlformats.org/officeDocument/2006/relationships/notesSlide" Target="/ppt/notesSlides/notesSlide2.xml" Id="Rc6bee2ca51f244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92802b32146fd" /><Relationship Type="http://schemas.openxmlformats.org/officeDocument/2006/relationships/chart" Target="/ppt/slides/charts/chart2.xml" Id="Rafa95031d9d942bd" /><Relationship Type="http://schemas.openxmlformats.org/officeDocument/2006/relationships/notesSlide" Target="/ppt/notesSlides/notesSlide3.xml" Id="R2243184ac7b24f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29aa4ff7d4992" /><Relationship Type="http://schemas.openxmlformats.org/officeDocument/2006/relationships/chart" Target="/ppt/slides/charts/chart3.xml" Id="Rfba80268f2dc4d8e" /><Relationship Type="http://schemas.openxmlformats.org/officeDocument/2006/relationships/notesSlide" Target="/ppt/notesSlides/notesSlide4.xml" Id="Rbe1ec96c6c4041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1e377198840b8" /><Relationship Type="http://schemas.openxmlformats.org/officeDocument/2006/relationships/notesSlide" Target="/ppt/notesSlides/notesSlide5.xml" Id="Rfb590ea7c74f4f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c9bab8d9a497b" /><Relationship Type="http://schemas.openxmlformats.org/officeDocument/2006/relationships/chart" Target="/ppt/slides/charts/chart4.xml" Id="R2fc0848ecfed4bd8" /><Relationship Type="http://schemas.openxmlformats.org/officeDocument/2006/relationships/notesSlide" Target="/ppt/notesSlides/notesSlide6.xml" Id="Rab158ee9356c48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e4a7830804912" /><Relationship Type="http://schemas.openxmlformats.org/officeDocument/2006/relationships/notesSlide" Target="/ppt/notesSlides/notesSlide7.xml" Id="Ra6fab21c582c43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1d9c40f854044" /><Relationship Type="http://schemas.openxmlformats.org/officeDocument/2006/relationships/notesSlide" Target="/ppt/notesSlides/notesSlide8.xml" Id="Re699e9d1f7024740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Energy (J/request)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4"/>
              <c:pt idx="0">
                <c:v>50%</c:v>
              </c:pt>
              <c:pt idx="1">
                <c:v>70%</c:v>
              </c:pt>
              <c:pt idx="2">
                <c:v>85%</c:v>
              </c:pt>
              <c:pt idx="3">
                <c:v>95%</c:v>
              </c:pt>
            </c:strLit>
          </c:cat>
          <c:val>
            <c:numLit>
              <c:formatCode>General</c:formatCode>
              <c:ptCount val="4"/>
              <c:pt idx="0">
                <c:v>38.51</c:v>
              </c:pt>
              <c:pt idx="1">
                <c:v>31.04</c:v>
              </c:pt>
              <c:pt idx="2">
                <c:v>27.7</c:v>
              </c:pt>
              <c:pt idx="3">
                <c:v>26.21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Offered load as share of capacity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42"/>
          <c:min val="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Energy (J/request)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Cache off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2"/>
              <c:pt idx="0">
                <c:v>0% reuse</c:v>
              </c:pt>
              <c:pt idx="1">
                <c:v>87.5% reuse</c:v>
              </c:pt>
            </c:strLit>
          </c:cat>
          <c:val>
            <c:numLit>
              <c:formatCode>General</c:formatCode>
              <c:ptCount val="2"/>
              <c:pt idx="0">
                <c:v>105.86</c:v>
              </c:pt>
              <c:pt idx="1">
                <c:v>105.98</c:v>
              </c:pt>
            </c:numLit>
          </c:val>
        </c:ser>
        <c:ser>
          <c:idx val="1"/>
          <c:order val="1"/>
          <c:tx>
            <c:v>Cache on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0% reuse</c:v>
              </c:pt>
              <c:pt idx="1">
                <c:v>87.5% reuse</c:v>
              </c:pt>
            </c:strLit>
          </c:cat>
          <c:val>
            <c:numLit>
              <c:formatCode>General</c:formatCode>
              <c:ptCount val="2"/>
              <c:pt idx="0">
                <c:v>103.44</c:v>
              </c:pt>
              <c:pt idx="1">
                <c:v>70.44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Energy (J/request)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Cache off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2"/>
              <c:pt idx="0">
                <c:v>Tensor activity</c:v>
              </c:pt>
              <c:pt idx="1">
                <c:v>DRAM activity</c:v>
              </c:pt>
            </c:strLit>
          </c:cat>
          <c:val>
            <c:numLit>
              <c:formatCode>General</c:formatCode>
              <c:ptCount val="2"/>
              <c:pt idx="0">
                <c:v>16.86</c:v>
              </c:pt>
              <c:pt idx="1">
                <c:v>48.19</c:v>
              </c:pt>
            </c:numLit>
          </c:val>
        </c:ser>
        <c:ser>
          <c:idx val="1"/>
          <c:order val="1"/>
          <c:tx>
            <c:v>Cache on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Tensor activity</c:v>
              </c:pt>
              <c:pt idx="1">
                <c:v>DRAM activity</c:v>
              </c:pt>
            </c:strLit>
          </c:cat>
          <c:val>
            <c:numLit>
              <c:formatCode>General</c:formatCode>
              <c:ptCount val="2"/>
              <c:pt idx="0">
                <c:v>5.95</c:v>
              </c:pt>
              <c:pt idx="1">
                <c:v>39.51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5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Mean GPM activity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Spearman ρ</c:v>
          </c:tx>
          <c:spPr>
            <a:solidFill xmlns:a="http://schemas.openxmlformats.org/drawingml/2006/main">
              <a:srgbClr val="3D8D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cat>
            <c:strLit>
              <c:ptCount val="5"/>
              <c:pt idx="0">
                <c:v>Throughput vs J/request (−)</c:v>
              </c:pt>
              <c:pt idx="1">
                <c:v>Queue vs p95 TTFT (+)</c:v>
              </c:pt>
              <c:pt idx="2">
                <c:v>Cache hit vs J/request (−)</c:v>
              </c:pt>
              <c:pt idx="3">
                <c:v>Cache hit vs p95 TTFT (−)</c:v>
              </c:pt>
              <c:pt idx="4">
                <c:v>Cache hit vs tensor activity (−)</c:v>
              </c:pt>
            </c:strLit>
          </c:cat>
          <c:val>
            <c:numLit>
              <c:formatCode>General</c:formatCode>
              <c:ptCount val="5"/>
              <c:pt idx="0">
                <c:v>0.986</c:v>
              </c:pt>
              <c:pt idx="1">
                <c:v>0.947</c:v>
              </c:pt>
              <c:pt idx="2">
                <c:v>0.73</c:v>
              </c:pt>
              <c:pt idx="3">
                <c:v>0.73</c:v>
              </c:pt>
              <c:pt idx="4">
                <c:v>0.73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Absolute Spearman rank correlation |ρ|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B47DA937-908A-4358-9D43-0B32D056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SGLANG ENERGY-TO-FINISH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01C1F9F-517C-417A-B684-F8B04E2A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009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 prefix reuse</a:t>
            </a:r>
          </a:p>
          <a:p xmlns:a="http://schemas.openxmlformats.org/drawingml/2006/main">
            <a:pPr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reduce inference energy?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BD60E19-7D78-4DB4-9AA2-8BDD1200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H100 pilot evidence, telemetry relationships, and a paired confirmation design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4DC016A9-902A-48BD-9E37-B4B8A29E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56 cells · 204 telemetry fields · 38 valid</a:t>
            </a:r>
          </a:p>
        </p:txBody>
      </p:sp>
    </p:spTree>
    <p:extLst>
      <p:ext uri="{BB962C8B-B14F-4D97-AF65-F5344CB8AC3E}">
        <p14:creationId xmlns:p14="http://schemas.microsoft.com/office/powerpoint/2010/main" val="2272190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C3139C-7AB0-4180-96A0-97AF11A9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Energy falls before the saturation knee; TTFT does not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68580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4c947f696446d9"/>
          </a:graphicData>
        </a:graphic>
      </p:graphicFrame>
      <p:sp>
        <p:nvSpPr>
          <p:cNvPr id="3" name="knee-callout">
            <a:extLst xmlns:a="http://schemas.openxmlformats.org/drawingml/2006/main">
              <a:ext uri="{FF2B5EF4-FFF2-40B4-BE49-F238E27FC236}">
                <a16:creationId xmlns:a16="http://schemas.microsoft.com/office/drawing/2014/main" id="{DF7A19AC-7E80-4448-B062-D7F46813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6195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knee-stat">
            <a:extLst xmlns:a="http://schemas.openxmlformats.org/drawingml/2006/main">
              <a:ext uri="{FF2B5EF4-FFF2-40B4-BE49-F238E27FC236}">
                <a16:creationId xmlns:a16="http://schemas.microsoft.com/office/drawing/2014/main" id="{7A0B4576-ED75-4D85-98B2-F4E0AA66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85%</a:t>
            </a:r>
          </a:p>
        </p:txBody>
      </p:sp>
      <p:sp>
        <p:nvSpPr>
          <p:cNvPr id="5" name="knee-copy">
            <a:extLst xmlns:a="http://schemas.openxmlformats.org/drawingml/2006/main">
              <a:ext uri="{FF2B5EF4-FFF2-40B4-BE49-F238E27FC236}">
                <a16:creationId xmlns:a16="http://schemas.microsoft.com/office/drawing/2014/main" id="{A8EC3F40-4FFB-405C-82E8-62ED1124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767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Selected knee</a:t>
            </a:r>
          </a:p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27.7 J/request</a:t>
            </a:r>
          </a:p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p95 TTFT 922 ms</a:t>
            </a:r>
          </a:p>
        </p:txBody>
      </p:sp>
      <p:sp>
        <p:nvSpPr>
          <p:cNvPr id="6" name="knee-interpretation">
            <a:extLst xmlns:a="http://schemas.openxmlformats.org/drawingml/2006/main">
              <a:ext uri="{FF2B5EF4-FFF2-40B4-BE49-F238E27FC236}">
                <a16:creationId xmlns:a16="http://schemas.microsoft.com/office/drawing/2014/main" id="{E48CAD74-258A-44BD-8C49-259FEAA2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57625"/>
            <a:ext cx="3619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 95% load, energy improves only 5.4% more while p95 TTFT rises another 81%. Queueing—not GPU failure—sets the useful boundary.</a:t>
            </a:r>
          </a:p>
        </p:txBody>
      </p:sp>
      <p:sp>
        <p:nvSpPr>
          <p:cNvPr id="7" name="invalid-note">
            <a:extLst xmlns:a="http://schemas.openxmlformats.org/drawingml/2006/main">
              <a:ext uri="{FF2B5EF4-FFF2-40B4-BE49-F238E27FC236}">
                <a16:creationId xmlns:a16="http://schemas.microsoft.com/office/drawing/2014/main" id="{15E6A939-BE29-4685-AD84-73212539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626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9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D94A4A"/>
                </a:solidFill>
                <a:latin typeface="Helvetica Neue"/>
                <a:ea typeface="Helvetica Neue"/>
                <a:cs typeface="Helvetica Neue"/>
              </a:rPr>
              <a:t>105% cell excluded: telemetry gap</a:t>
            </a:r>
          </a:p>
        </p:txBody>
      </p:sp>
      <p:sp>
        <p:nvSpPr>
          <p:cNvPr id="8" name="footer-note">
            <a:extLst xmlns:a="http://schemas.openxmlformats.org/drawingml/2006/main">
              <a:ext uri="{FF2B5EF4-FFF2-40B4-BE49-F238E27FC236}">
                <a16:creationId xmlns:a16="http://schemas.microsoft.com/office/drawing/2014/main" id="{79A6F4BA-FE2C-49E0-B1AD-9521C3CE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H100 pilot · Qwen3.5-35B-A3B · TP=2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AA9236D-CDD4-41A2-B947-69FF89F3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70521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51D17E-E796-4C61-8B46-C4494B2F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prefix-cache signal grows with reusable context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7000875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a95031d9d942bd"/>
          </a:graphicData>
        </a:graphic>
      </p:graphicFrame>
      <p:sp>
        <p:nvSpPr>
          <p:cNvPr id="3" name="energy-stat">
            <a:extLst xmlns:a="http://schemas.openxmlformats.org/drawingml/2006/main">
              <a:ext uri="{FF2B5EF4-FFF2-40B4-BE49-F238E27FC236}">
                <a16:creationId xmlns:a16="http://schemas.microsoft.com/office/drawing/2014/main" id="{F08A1EFA-E83F-4FE0-9890-A6B242C3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71625"/>
            <a:ext cx="342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energy-value">
            <a:extLst xmlns:a="http://schemas.openxmlformats.org/drawingml/2006/main">
              <a:ext uri="{FF2B5EF4-FFF2-40B4-BE49-F238E27FC236}">
                <a16:creationId xmlns:a16="http://schemas.microsoft.com/office/drawing/2014/main" id="{36CBC09A-5D14-482A-8F3A-2F245937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8117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−33.5%</a:t>
            </a:r>
          </a:p>
        </p:txBody>
      </p:sp>
      <p:sp>
        <p:nvSpPr>
          <p:cNvPr id="5" name="energy-label">
            <a:extLst xmlns:a="http://schemas.openxmlformats.org/drawingml/2006/main">
              <a:ext uri="{FF2B5EF4-FFF2-40B4-BE49-F238E27FC236}">
                <a16:creationId xmlns:a16="http://schemas.microsoft.com/office/drawing/2014/main" id="{01CB9A5C-3E67-4F69-B937-246122B8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9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PX87 energy/request</a:t>
            </a:r>
          </a:p>
        </p:txBody>
      </p:sp>
      <p:sp>
        <p:nvSpPr>
          <p:cNvPr id="6" name="latency-value">
            <a:extLst xmlns:a="http://schemas.openxmlformats.org/drawingml/2006/main">
              <a:ext uri="{FF2B5EF4-FFF2-40B4-BE49-F238E27FC236}">
                <a16:creationId xmlns:a16="http://schemas.microsoft.com/office/drawing/2014/main" id="{C3DA7829-F783-41AF-A84E-9803A38A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52850"/>
            <a:ext cx="342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−79% p95 TTFT</a:t>
            </a:r>
          </a:p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−71% p95 E2E</a:t>
            </a:r>
          </a:p>
        </p:txBody>
      </p:sp>
      <p:sp>
        <p:nvSpPr>
          <p:cNvPr id="7" name="prefix-caveat">
            <a:extLst xmlns:a="http://schemas.openxmlformats.org/drawingml/2006/main">
              <a:ext uri="{FF2B5EF4-FFF2-40B4-BE49-F238E27FC236}">
                <a16:creationId xmlns:a16="http://schemas.microsoft.com/office/drawing/2014/main" id="{487D4B9B-CB30-4DBE-818A-1FE9A22F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1435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9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D94A4A"/>
                </a:solidFill>
                <a:latin typeface="Helvetica Neue"/>
                <a:ea typeface="Helvetica Neue"/>
                <a:cs typeface="Helvetica Neue"/>
              </a:rPr>
              <a:t>Descriptive means only: both PX87 cache-on confirmation cells failed the telemetry-gap gate.</a:t>
            </a:r>
          </a:p>
        </p:txBody>
      </p:sp>
      <p:sp>
        <p:nvSpPr>
          <p:cNvPr id="8" name="footer-note">
            <a:extLst xmlns:a="http://schemas.openxmlformats.org/drawingml/2006/main">
              <a:ext uri="{FF2B5EF4-FFF2-40B4-BE49-F238E27FC236}">
                <a16:creationId xmlns:a16="http://schemas.microsoft.com/office/drawing/2014/main" id="{E9994CAF-2238-4556-A720-EB539FE1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H100 pilot · Qwen3.5-35B-A3B · TP=2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A6C16AD-7BEE-4DCA-90FD-595EC945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752221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EC7BCF-A439-48AC-8726-A74EC860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mechanism looks like avoided tensor and DRAM work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7000875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a80268f2dc4d8e"/>
          </a:graphicData>
        </a:graphic>
      </p:graphicFrame>
      <p:sp>
        <p:nvSpPr>
          <p:cNvPr id="3" name="mechanism-lead">
            <a:extLst xmlns:a="http://schemas.openxmlformats.org/drawingml/2006/main">
              <a:ext uri="{FF2B5EF4-FFF2-40B4-BE49-F238E27FC236}">
                <a16:creationId xmlns:a16="http://schemas.microsoft.com/office/drawing/2014/main" id="{37F7F55E-546A-4264-888E-FBBFF8ED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57350"/>
            <a:ext cx="347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 the same ≈12.3 req/s, PX87 cache-on used:</a:t>
            </a:r>
          </a:p>
        </p:txBody>
      </p:sp>
      <p:sp>
        <p:nvSpPr>
          <p:cNvPr id="4" name="tensor-stat">
            <a:extLst xmlns:a="http://schemas.openxmlformats.org/drawingml/2006/main">
              <a:ext uri="{FF2B5EF4-FFF2-40B4-BE49-F238E27FC236}">
                <a16:creationId xmlns:a16="http://schemas.microsoft.com/office/drawing/2014/main" id="{11087112-7142-4871-B205-192120F7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19375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65% less</a:t>
            </a:r>
          </a:p>
          <a:p xmlns:a="http://schemas.openxmlformats.org/drawingml/2006/main">
            <a:pPr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tensor activity</a:t>
            </a:r>
          </a:p>
        </p:txBody>
      </p:sp>
      <p:sp>
        <p:nvSpPr>
          <p:cNvPr id="5" name="dram-stat">
            <a:extLst xmlns:a="http://schemas.openxmlformats.org/drawingml/2006/main">
              <a:ext uri="{FF2B5EF4-FFF2-40B4-BE49-F238E27FC236}">
                <a16:creationId xmlns:a16="http://schemas.microsoft.com/office/drawing/2014/main" id="{D7801507-A739-4F24-9860-54A6CB9D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94335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18% less</a:t>
            </a:r>
          </a:p>
          <a:p xmlns:a="http://schemas.openxmlformats.org/drawingml/2006/main">
            <a:pPr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DRAM activity</a:t>
            </a:r>
          </a:p>
        </p:txBody>
      </p:sp>
      <p:sp>
        <p:nvSpPr>
          <p:cNvPr id="6" name="hit-stat">
            <a:extLst xmlns:a="http://schemas.openxmlformats.org/drawingml/2006/main">
              <a:ext uri="{FF2B5EF4-FFF2-40B4-BE49-F238E27FC236}">
                <a16:creationId xmlns:a16="http://schemas.microsoft.com/office/drawing/2014/main" id="{0819BDF0-C23E-41A2-B84D-1E15E593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Observed cache-hit rate: 0.642</a:t>
            </a:r>
          </a:p>
        </p:txBody>
      </p:sp>
      <p:sp>
        <p:nvSpPr>
          <p:cNvPr id="7" name="footer-note">
            <a:extLst xmlns:a="http://schemas.openxmlformats.org/drawingml/2006/main">
              <a:ext uri="{FF2B5EF4-FFF2-40B4-BE49-F238E27FC236}">
                <a16:creationId xmlns:a16="http://schemas.microsoft.com/office/drawing/2014/main" id="{1427BE53-202F-4434-B61E-9D1FB6EE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H100 pilot · Qwen3.5-35B-A3B · TP=2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F7E4EBB-9097-4F38-9BB6-C0BF70CE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86409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35A4FD-6ACB-4361-94F5-ADFCF0DD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telemetry separates utilization, saturation, and errors</a:t>
            </a:r>
          </a:p>
        </p:txBody>
      </p:sp>
      <p:sp>
        <p:nvSpPr>
          <p:cNvPr id="2" name="use-subtitle">
            <a:extLst xmlns:a="http://schemas.openxmlformats.org/drawingml/2006/main">
              <a:ext uri="{FF2B5EF4-FFF2-40B4-BE49-F238E27FC236}">
                <a16:creationId xmlns:a16="http://schemas.microsoft.com/office/drawing/2014/main" id="{E9B25A42-EE21-4FE5-944D-D78A3402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The next experiment keeps every error counter as an exclusion gate, not an explanatory feature.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0050" y="1666875"/>
          <a:ext xmlns:a="http://schemas.openxmlformats.org/drawingml/2006/main" cx="11391900" cy="4305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52625"/>
                <a:gridCol w="3238500"/>
                <a:gridCol w="2857500"/>
                <a:gridCol w="3343275"/>
              </a:tblGrid>
              <a:tr h="7175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Resource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Utilization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Saturation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Errors / next direction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717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GPU compute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GPU busy; SM, occupancy; tensor ops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Queue and TTFT knee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Clock and health gates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7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HBM + links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DRAM, memory busy; PCIe/NVLink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KV used/available/evictable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 HBM probe unavailable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17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SGLang KV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Cache hit; token and full-token use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Evictable tokens; queue depth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PX0 negative control; flush/prime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7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CPU + memory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CPU rates; current/max memory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Throttle and memory events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throttling or OOM observed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175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Energy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Power, counter energy, J/request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Coverage and sample gaps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Cross-check and health validity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-note">
            <a:extLst xmlns:a="http://schemas.openxmlformats.org/drawingml/2006/main">
              <a:ext uri="{FF2B5EF4-FFF2-40B4-BE49-F238E27FC236}">
                <a16:creationId xmlns:a16="http://schemas.microsoft.com/office/drawing/2014/main" id="{AF889199-899B-4423-8A99-09A00913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All 56 cells retained · 204 aggregate telemetry fields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CD85FEC-738C-4D80-87F8-40A82ADF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320524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5EC34E-726A-4C58-BEB5-7B8BE4BE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Queue explains latency; cache hit tracks lower work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04850" y="1428750"/>
          <a:ext xmlns:a="http://schemas.openxmlformats.org/drawingml/2006/main" cx="781050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c0848ecfed4bd8"/>
          </a:graphicData>
        </a:graphic>
      </p:graphicFrame>
      <p:sp>
        <p:nvSpPr>
          <p:cNvPr id="3" name="relationship-note">
            <a:extLst xmlns:a="http://schemas.openxmlformats.org/drawingml/2006/main">
              <a:ext uri="{FF2B5EF4-FFF2-40B4-BE49-F238E27FC236}">
                <a16:creationId xmlns:a16="http://schemas.microsoft.com/office/drawing/2014/main" id="{6E79663A-0515-4FB1-8B6C-7EB542E1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552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relationship-n">
            <a:extLst xmlns:a="http://schemas.openxmlformats.org/drawingml/2006/main">
              <a:ext uri="{FF2B5EF4-FFF2-40B4-BE49-F238E27FC236}">
                <a16:creationId xmlns:a16="http://schemas.microsoft.com/office/drawing/2014/main" id="{2A3C57FD-9090-437D-B372-F71AB7E8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097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 = 19</a:t>
            </a:r>
          </a:p>
        </p:txBody>
      </p:sp>
      <p:sp>
        <p:nvSpPr>
          <p:cNvPr id="5" name="relationship-bal">
            <a:extLst xmlns:a="http://schemas.openxmlformats.org/drawingml/2006/main">
              <a:ext uri="{FF2B5EF4-FFF2-40B4-BE49-F238E27FC236}">
                <a16:creationId xmlns:a16="http://schemas.microsoft.com/office/drawing/2014/main" id="{0D60F796-FB67-4EE7-A0B9-9E1305DC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955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Balanced-load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relationships</a:t>
            </a:r>
          </a:p>
        </p:txBody>
      </p:sp>
      <p:sp>
        <p:nvSpPr>
          <p:cNvPr id="6" name="relationship-note2">
            <a:extLst xmlns:a="http://schemas.openxmlformats.org/drawingml/2006/main">
              <a:ext uri="{FF2B5EF4-FFF2-40B4-BE49-F238E27FC236}">
                <a16:creationId xmlns:a16="http://schemas.microsoft.com/office/drawing/2014/main" id="{4DCAC1A3-D7B2-46E6-B6DF-3B11E0F1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95700"/>
            <a:ext cx="2552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relationship-n2">
            <a:extLst xmlns:a="http://schemas.openxmlformats.org/drawingml/2006/main">
              <a:ext uri="{FF2B5EF4-FFF2-40B4-BE49-F238E27FC236}">
                <a16:creationId xmlns:a16="http://schemas.microsoft.com/office/drawing/2014/main" id="{9AEB92F4-FD7D-4F23-BD75-E4A53300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243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 = 9</a:t>
            </a:r>
          </a:p>
        </p:txBody>
      </p:sp>
      <p:sp>
        <p:nvSpPr>
          <p:cNvPr id="8" name="relationship-prefix">
            <a:extLst xmlns:a="http://schemas.openxmlformats.org/drawingml/2006/main">
              <a:ext uri="{FF2B5EF4-FFF2-40B4-BE49-F238E27FC236}">
                <a16:creationId xmlns:a16="http://schemas.microsoft.com/office/drawing/2014/main" id="{5BEFA98D-FFE7-4D5B-B359-E8F2B781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101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Prefix-valid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relationships</a:t>
            </a:r>
          </a:p>
        </p:txBody>
      </p:sp>
      <p:sp>
        <p:nvSpPr>
          <p:cNvPr id="9" name="correlation-caveat">
            <a:extLst xmlns:a="http://schemas.openxmlformats.org/drawingml/2006/main">
              <a:ext uri="{FF2B5EF4-FFF2-40B4-BE49-F238E27FC236}">
                <a16:creationId xmlns:a16="http://schemas.microsoft.com/office/drawing/2014/main" id="{A379CDC4-D49C-48C3-8920-ABB27480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150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D94A4A"/>
                </a:solidFill>
                <a:latin typeface="Helvetica Neue"/>
                <a:ea typeface="Helvetica Neue"/>
                <a:cs typeface="Helvetica Neue"/>
              </a:rPr>
              <a:t>Association, not causality</a:t>
            </a:r>
          </a:p>
        </p:txBody>
      </p:sp>
      <p:sp>
        <p:nvSpPr>
          <p:cNvPr id="10" name="footer-note">
            <a:extLst xmlns:a="http://schemas.openxmlformats.org/drawingml/2006/main">
              <a:ext uri="{FF2B5EF4-FFF2-40B4-BE49-F238E27FC236}">
                <a16:creationId xmlns:a16="http://schemas.microsoft.com/office/drawing/2014/main" id="{3B15B584-DD61-4869-8D65-4ECF94E0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H100 pilot · Qwen3.5-35B-A3B · TP=2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86D9496-EABE-46AC-BC9B-35154406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075106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F82362-8D75-4795-BE35-A07FCDD3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next run isolates the cache effect in three moves</a:t>
            </a:r>
          </a:p>
        </p:txBody>
      </p:sp>
      <p:cxnSp>
        <p:nvCxnSpPr>
          <p:cNvPr id="19" name="timeline-rule"/>
          <p:cNvCxnSpPr/>
          <p:nvPr/>
        </p:nvCxnSpPr>
        <p:spPr>
          <a:xfrm xmlns:a="http://schemas.openxmlformats.org/drawingml/2006/main">
            <a:off x="457200" y="3333750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3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4AD79B35-9A36-400F-9DCE-D07AEC3E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5171446A-A924-4E55-AE08-26546CED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· PRIME</a:t>
            </a:r>
          </a:p>
        </p:txBody>
      </p:sp>
      <p:sp>
        <p:nvSpPr>
          <p:cNvPr id="5" name="timeline-head-1">
            <a:extLst xmlns:a="http://schemas.openxmlformats.org/drawingml/2006/main">
              <a:ext uri="{FF2B5EF4-FFF2-40B4-BE49-F238E27FC236}">
                <a16:creationId xmlns:a16="http://schemas.microsoft.com/office/drawing/2014/main" id="{7FD2844B-F6CE-4232-AB73-1A7C91A9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Warm 16 prefixes</a:t>
            </a:r>
          </a:p>
        </p:txBody>
      </p:sp>
      <p:sp>
        <p:nvSpPr>
          <p:cNvPr id="6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03D880DF-8544-427A-9C2B-FBE2218D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3143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Flush, then send one distinct request per prefix group. Prime and measure share prefixes—not suffixes.</a:t>
            </a:r>
          </a:p>
        </p:txBody>
      </p:sp>
      <p:sp>
        <p:nvSpPr>
          <p:cNvPr id="7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8C7D870F-460D-4FB8-AC06-3F82C691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FF3E9E86-29CB-4470-BEA8-32313DDB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24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 · PAIR</a:t>
            </a:r>
          </a:p>
        </p:txBody>
      </p:sp>
      <p:sp>
        <p:nvSpPr>
          <p:cNvPr id="9" name="timeline-head-2">
            <a:extLst xmlns:a="http://schemas.openxmlformats.org/drawingml/2006/main">
              <a:ext uri="{FF2B5EF4-FFF2-40B4-BE49-F238E27FC236}">
                <a16:creationId xmlns:a16="http://schemas.microsoft.com/office/drawing/2014/main" id="{13A769BB-2EF2-45FC-9779-7E963C30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10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AB/BA × 6 seeds</a:t>
            </a:r>
          </a:p>
        </p:txBody>
      </p:sp>
      <p:sp>
        <p:nvSpPr>
          <p:cNvPr id="10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123FBEA2-E996-4511-8109-43E34C42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14850"/>
            <a:ext cx="3143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Compare cache off/on at 0%, 50%, and 87.5% reuse. Rotate workload order at a fixed 12.445 req/s.</a:t>
            </a:r>
          </a:p>
        </p:txBody>
      </p:sp>
      <p:sp>
        <p:nvSpPr>
          <p:cNvPr id="11" name="timeline-node-3">
            <a:extLst xmlns:a="http://schemas.openxmlformats.org/drawingml/2006/main">
              <a:ext uri="{FF2B5EF4-FFF2-40B4-BE49-F238E27FC236}">
                <a16:creationId xmlns:a16="http://schemas.microsoft.com/office/drawing/2014/main" id="{EC8C710D-BF5C-4A91-B0D1-4A096056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C36BB4D5-BBF8-4532-809E-50B29D47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· DECIDE</a:t>
            </a:r>
          </a:p>
        </p:txBody>
      </p:sp>
      <p:sp>
        <p:nvSpPr>
          <p:cNvPr id="13" name="timeline-head-3">
            <a:extLst xmlns:a="http://schemas.openxmlformats.org/drawingml/2006/main">
              <a:ext uri="{FF2B5EF4-FFF2-40B4-BE49-F238E27FC236}">
                <a16:creationId xmlns:a16="http://schemas.microsoft.com/office/drawing/2014/main" id="{8259AC61-3672-422D-B202-9C0E5B87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Estimate paired effect</a:t>
            </a:r>
          </a:p>
        </p:txBody>
      </p:sp>
      <p:sp>
        <p:nvSpPr>
          <p:cNvPr id="14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3BD8C04C-B987-4055-9A4F-FC7DD08A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14850"/>
            <a:ext cx="3143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Report median cache-on minus off, bootstrap interval, latency guards, and mechanism counters.</a:t>
            </a:r>
          </a:p>
        </p:txBody>
      </p:sp>
      <p:sp>
        <p:nvSpPr>
          <p:cNvPr id="15" name="timeline-design">
            <a:extLst xmlns:a="http://schemas.openxmlformats.org/drawingml/2006/main">
              <a:ext uri="{FF2B5EF4-FFF2-40B4-BE49-F238E27FC236}">
                <a16:creationId xmlns:a16="http://schemas.microsoft.com/office/drawing/2014/main" id="{C1AE7697-AD3D-4299-AB05-31BD9533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36 measured cells · critical energy at 100 ms · independent GPM at 1 s</a:t>
            </a:r>
          </a:p>
        </p:txBody>
      </p:sp>
      <p:sp>
        <p:nvSpPr>
          <p:cNvPr id="16" name="footer-note">
            <a:extLst xmlns:a="http://schemas.openxmlformats.org/drawingml/2006/main">
              <a:ext uri="{FF2B5EF4-FFF2-40B4-BE49-F238E27FC236}">
                <a16:creationId xmlns:a16="http://schemas.microsoft.com/office/drawing/2014/main" id="{D140B06E-52E6-455A-BF9F-1F3CF2AC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H100 pilot · Qwen3.5-35B-A3B · TP=2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9F9AF8E-AD4E-48B5-A3C1-62C1C73B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721309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6DACC870-C272-4787-84E2-AF69B6AB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DECISION RULE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C5B51BF3-E86E-4863-A231-449BDF34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57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radix cache when the paired energy gain survives the latency and validity gates.</a:t>
            </a:r>
          </a:p>
        </p:txBody>
      </p:sp>
      <p:sp>
        <p:nvSpPr>
          <p:cNvPr id="3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D1ACE2CC-BF99-433B-9EC3-4F7BBDCC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PX0 must stay neutral. PX50 and PX87 must show lower J/request without throughput regression or telemetry failure.</a:t>
            </a:r>
          </a:p>
        </p:txBody>
      </p:sp>
      <p:sp>
        <p:nvSpPr>
          <p:cNvPr id="4" name="close-cost">
            <a:extLst xmlns:a="http://schemas.openxmlformats.org/drawingml/2006/main">
              <a:ext uri="{FF2B5EF4-FFF2-40B4-BE49-F238E27FC236}">
                <a16:creationId xmlns:a16="http://schemas.microsoft.com/office/drawing/2014/main" id="{63DAA001-9FCF-4A0C-8B1C-73502D59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90 min planned · 99 min hard stop · $10.86 maximum GPU exposure</a:t>
            </a:r>
          </a:p>
        </p:txBody>
      </p:sp>
    </p:spTree>
    <p:extLst>
      <p:ext uri="{BB962C8B-B14F-4D97-AF65-F5344CB8AC3E}">
        <p14:creationId xmlns:p14="http://schemas.microsoft.com/office/powerpoint/2010/main" val="1814959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2026-08-26T04:15:39.2780000Z</dcterms:created>
  <dcterms:modified xsi:type="dcterms:W3CDTF">2026-08-26T04:15:39.2780000Z</dcterms:modified>
</coreProperties>
</file>